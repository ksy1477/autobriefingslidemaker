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테스트고객님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FFFFF"/>
                </a:solidFill>
              </a:defRPr>
            </a:pPr>
            <a:r>
              <a:t>내집마련을 위한 브리핑자료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CCCCCC"/>
                </a:solidFill>
              </a:defRPr>
            </a:pPr>
            <a:r>
              <a:t>임장브리핑 : 샘플단지_2345 / 샘플단지_9999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i="1">
                <a:solidFill>
                  <a:srgbClr val="333333"/>
                </a:solidFill>
              </a:defRPr>
            </a:pPr>
            <a:r>
              <a:t>"전문가로서 분석하고, 고객의 편에서 중개하겠습니다"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828800"/>
            <a:ext cx="6400800" cy="254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0" y="228600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666666"/>
                </a:solidFill>
              </a:rPr>
              <a:t>공인중개사  </a:t>
            </a:r>
            <a:r>
              <a:rPr sz="2200" b="1">
                <a:solidFill>
                  <a:srgbClr val="333333"/>
                </a:solidFill>
              </a:rPr>
              <a:t>홍길동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0" y="283464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66666"/>
                </a:solidFill>
              </a:defRPr>
            </a:pPr>
            <a:r>
              <a:t>부동산중개법인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329184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66666"/>
                </a:solidFill>
              </a:defRPr>
            </a:pPr>
            <a:r>
              <a:t>• 공인중개사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4389120"/>
            <a:ext cx="4572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66666"/>
                </a:solidFill>
              </a:defRPr>
            </a:pPr>
            <a:r>
              <a:t>M: 010-0000-0000</a:t>
            </a:r>
          </a:p>
          <a:p>
            <a:pPr>
              <a:defRPr sz="1200">
                <a:solidFill>
                  <a:srgbClr val="666666"/>
                </a:solidFill>
              </a:defRPr>
            </a:pPr>
            <a:r>
              <a:t>E: agent@example.com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333333"/>
                </a:solidFill>
              </a:defRPr>
            </a:pPr>
            <a:r>
              <a:t>물건리스트 및 투어일정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1828800" cy="381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97280"/>
          <a:ext cx="85953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371600"/>
                <a:gridCol w="1005840"/>
                <a:gridCol w="822960"/>
                <a:gridCol w="1005840"/>
                <a:gridCol w="1188720"/>
                <a:gridCol w="22860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지역</a:t>
                      </a:r>
                    </a:p>
                  </a:txBody>
                  <a:tcPr>
                    <a:solidFill>
                      <a:srgbClr val="C810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단지명</a:t>
                      </a:r>
                    </a:p>
                  </a:txBody>
                  <a:tcPr>
                    <a:solidFill>
                      <a:srgbClr val="C810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동/호수</a:t>
                      </a:r>
                    </a:p>
                  </a:txBody>
                  <a:tcPr>
                    <a:solidFill>
                      <a:srgbClr val="C810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평형</a:t>
                      </a:r>
                    </a:p>
                  </a:txBody>
                  <a:tcPr>
                    <a:solidFill>
                      <a:srgbClr val="C810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매매가</a:t>
                      </a:r>
                    </a:p>
                  </a:txBody>
                  <a:tcPr>
                    <a:solidFill>
                      <a:srgbClr val="C810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향/구조</a:t>
                      </a:r>
                    </a:p>
                  </a:txBody>
                  <a:tcPr>
                    <a:solidFill>
                      <a:srgbClr val="C810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특이사항</a:t>
                      </a:r>
                    </a:p>
                  </a:txBody>
                  <a:tcPr>
                    <a:solidFill>
                      <a:srgbClr val="C8102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서울시 강남구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샘플단지_2345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124동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6.4억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동향 복도식 방2화1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샷시교체, 욕실수리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서울시 강남구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샘플단지_2345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115동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6.6억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남향 복도식 방3화2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서울시 강남구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샘플단지_9999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201동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8.2억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남서향 타워식 방3화2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올수리, 네고 가능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320040"/>
            <a:ext cx="101600" cy="3657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333333"/>
                </a:solidFill>
              </a:defRPr>
            </a:pPr>
            <a:r>
              <a:t>샘플단지_2345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999999"/>
                </a:solidFill>
              </a:defRPr>
            </a:pPr>
            <a:r>
              <a:t>개요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777240"/>
            <a:ext cx="8595360" cy="127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</a:defRPr>
            </a:pPr>
            <a:r>
              <a:t>샘플단지_2345은(는)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</a:defRPr>
            </a:pPr>
            <a:r>
              <a:t>서울시 강남구에 위치해있으며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</a:defRPr>
            </a:pPr>
            <a:r>
              <a:t>세대수 1,500세대, 주차대수 1,200대 (세대당 0.8대)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</a:defRPr>
            </a:pPr>
            <a:r>
              <a:t>2005년 준공된 아파트입니다.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47472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C8102E"/>
                </a:solidFill>
              </a:defRPr>
            </a:pPr>
            <a:r>
              <a:t>#대단지  #준신축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94360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99999"/>
                </a:solidFill>
              </a:defRPr>
            </a:pPr>
            <a:r>
              <a:t>*네이버부동산 (https://land.naver.com)  *네이버지도 (https://map.naver.com)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320040"/>
            <a:ext cx="101600" cy="3657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333333"/>
                </a:solidFill>
              </a:defRPr>
            </a:pPr>
            <a:r>
              <a:t>샘플단지_2345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999999"/>
                </a:solidFill>
              </a:defRPr>
            </a:pPr>
            <a:r>
              <a:t>실거래가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777240"/>
            <a:ext cx="8595360" cy="127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샘플단지_2345은(는) 2026년 1월 [2]건, 2026년 1월 [1]건 거래되었습니다.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최근 3개월 최고 [7억 1000만원], 최저 [5억 5300만원]에 거래되었습니다.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최고가 [9억 2000만원] 21년 9월에 거래되었습니다.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74320" y="2560320"/>
          <a:ext cx="411480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822960"/>
                <a:gridCol w="640080"/>
                <a:gridCol w="155448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거래일</a:t>
                      </a:r>
                    </a:p>
                  </a:txBody>
                  <a:tcPr>
                    <a:solidFill>
                      <a:srgbClr val="C810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평형</a:t>
                      </a:r>
                    </a:p>
                  </a:txBody>
                  <a:tcPr>
                    <a:solidFill>
                      <a:srgbClr val="C810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층</a:t>
                      </a:r>
                    </a:p>
                  </a:txBody>
                  <a:tcPr>
                    <a:solidFill>
                      <a:srgbClr val="C810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거래가</a:t>
                      </a:r>
                    </a:p>
                  </a:txBody>
                  <a:tcPr>
                    <a:solidFill>
                      <a:srgbClr val="C810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2026.01.15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24평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8층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5억 9000만원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2026.01.03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24평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5층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5억 5300만원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2026.01.20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32평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12층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7억 1000만원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8" name="Picture 7" descr="price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560320"/>
            <a:ext cx="4297680" cy="2743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94360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99999"/>
                </a:solidFill>
              </a:defRPr>
            </a:pPr>
            <a:r>
              <a:t>*아실 (https://asil.kr)  *국토교통부 실거래가 공개시스템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320040"/>
            <a:ext cx="101600" cy="3657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333333"/>
                </a:solidFill>
              </a:defRPr>
            </a:pPr>
            <a:r>
              <a:t>샘플단지_2345 - 124동 7/15층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999999"/>
                </a:solidFill>
              </a:defRPr>
            </a:pPr>
            <a:r>
              <a:t>매물정보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777240"/>
            <a:ext cx="8595360" cy="127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188720"/>
            <a:ext cx="4114800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CCCCCC"/>
                </a:solidFill>
              </a:defRPr>
            </a:pPr>
            <a:r>
              <a:t>[단지 내 위치]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188720"/>
            <a:ext cx="41148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CCCCCC"/>
                </a:solidFill>
              </a:defRPr>
            </a:pPr>
            <a:r>
              <a:t>[평면도]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365760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333333"/>
                </a:solidFill>
              </a:defRPr>
            </a:pPr>
            <a:r>
              <a:t>매매가: 6.4억</a:t>
            </a:r>
          </a:p>
          <a:p>
            <a:pPr>
              <a:spcAft>
                <a:spcPts val="400"/>
              </a:spcAft>
              <a:defRPr sz="1100">
                <a:solidFill>
                  <a:srgbClr val="555555"/>
                </a:solidFill>
              </a:defRPr>
            </a:pPr>
            <a:r>
              <a:t>동/층: 124동 / 7/15층</a:t>
            </a:r>
          </a:p>
          <a:p>
            <a:pPr>
              <a:spcAft>
                <a:spcPts val="400"/>
              </a:spcAft>
              <a:defRPr sz="1100">
                <a:solidFill>
                  <a:srgbClr val="555555"/>
                </a:solidFill>
              </a:defRPr>
            </a:pPr>
            <a:r>
              <a:t>향: 동향</a:t>
            </a:r>
          </a:p>
          <a:p>
            <a:pPr>
              <a:spcAft>
                <a:spcPts val="400"/>
              </a:spcAft>
              <a:defRPr sz="1100">
                <a:solidFill>
                  <a:srgbClr val="555555"/>
                </a:solidFill>
              </a:defRPr>
            </a:pPr>
            <a:r>
              <a:t>구조: 복도식 방2화1</a:t>
            </a:r>
          </a:p>
          <a:p>
            <a:pPr>
              <a:spcAft>
                <a:spcPts val="400"/>
              </a:spcAft>
              <a:defRPr sz="1100">
                <a:solidFill>
                  <a:srgbClr val="555555"/>
                </a:solidFill>
              </a:defRPr>
            </a:pPr>
            <a:r>
              <a:t>특이사항: 샷시교체, 욕실수리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320040"/>
            <a:ext cx="101600" cy="3657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333333"/>
                </a:solidFill>
              </a:defRPr>
            </a:pPr>
            <a:r>
              <a:t>샘플단지_2345 - 115동 12/15층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999999"/>
                </a:solidFill>
              </a:defRPr>
            </a:pPr>
            <a:r>
              <a:t>매물정보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777240"/>
            <a:ext cx="8595360" cy="127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188720"/>
            <a:ext cx="4114800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CCCCCC"/>
                </a:solidFill>
              </a:defRPr>
            </a:pPr>
            <a:r>
              <a:t>[단지 내 위치]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188720"/>
            <a:ext cx="41148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CCCCCC"/>
                </a:solidFill>
              </a:defRPr>
            </a:pPr>
            <a:r>
              <a:t>[평면도]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365760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333333"/>
                </a:solidFill>
              </a:defRPr>
            </a:pPr>
            <a:r>
              <a:t>매매가: 6.6억</a:t>
            </a:r>
          </a:p>
          <a:p>
            <a:pPr>
              <a:spcAft>
                <a:spcPts val="400"/>
              </a:spcAft>
              <a:defRPr sz="1100">
                <a:solidFill>
                  <a:srgbClr val="555555"/>
                </a:solidFill>
              </a:defRPr>
            </a:pPr>
            <a:r>
              <a:t>동/층: 115동 / 12/15층</a:t>
            </a:r>
          </a:p>
          <a:p>
            <a:pPr>
              <a:spcAft>
                <a:spcPts val="400"/>
              </a:spcAft>
              <a:defRPr sz="1100">
                <a:solidFill>
                  <a:srgbClr val="555555"/>
                </a:solidFill>
              </a:defRPr>
            </a:pPr>
            <a:r>
              <a:t>향: 남향</a:t>
            </a:r>
          </a:p>
          <a:p>
            <a:pPr>
              <a:spcAft>
                <a:spcPts val="400"/>
              </a:spcAft>
              <a:defRPr sz="1100">
                <a:solidFill>
                  <a:srgbClr val="555555"/>
                </a:solidFill>
              </a:defRPr>
            </a:pPr>
            <a:r>
              <a:t>구조: 복도식 방3화2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320040"/>
            <a:ext cx="101600" cy="3657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333333"/>
                </a:solidFill>
              </a:defRPr>
            </a:pPr>
            <a:r>
              <a:t>샘플단지_9999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999999"/>
                </a:solidFill>
              </a:defRPr>
            </a:pPr>
            <a:r>
              <a:t>개요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777240"/>
            <a:ext cx="8595360" cy="127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</a:defRPr>
            </a:pPr>
            <a:r>
              <a:t>샘플단지_9999은(는)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</a:defRPr>
            </a:pPr>
            <a:r>
              <a:t>서울시 강남구에 위치해있으며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</a:defRPr>
            </a:pPr>
            <a:r>
              <a:t>세대수 1,500세대, 주차대수 1,200대 (세대당 0.8대)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</a:defRPr>
            </a:pPr>
            <a:r>
              <a:t>2005년 준공된 아파트입니다.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47472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C8102E"/>
                </a:solidFill>
              </a:defRPr>
            </a:pPr>
            <a:r>
              <a:t>#대단지  #준신축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94360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99999"/>
                </a:solidFill>
              </a:defRPr>
            </a:pPr>
            <a:r>
              <a:t>*네이버부동산 (https://land.naver.com)  *네이버지도 (https://map.naver.com)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320040"/>
            <a:ext cx="101600" cy="3657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333333"/>
                </a:solidFill>
              </a:defRPr>
            </a:pPr>
            <a:r>
              <a:t>샘플단지_9999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999999"/>
                </a:solidFill>
              </a:defRPr>
            </a:pPr>
            <a:r>
              <a:t>실거래가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777240"/>
            <a:ext cx="8595360" cy="127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샘플단지_9999은(는) 2026년 1월 [2]건, 2026년 1월 [1]건 거래되었습니다.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최근 3개월 최고 [7억 1000만원], 최저 [5억 5300만원]에 거래되었습니다.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최고가 [9억 2000만원] 21년 9월에 거래되었습니다.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74320" y="2560320"/>
          <a:ext cx="411480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822960"/>
                <a:gridCol w="640080"/>
                <a:gridCol w="155448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거래일</a:t>
                      </a:r>
                    </a:p>
                  </a:txBody>
                  <a:tcPr>
                    <a:solidFill>
                      <a:srgbClr val="C810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평형</a:t>
                      </a:r>
                    </a:p>
                  </a:txBody>
                  <a:tcPr>
                    <a:solidFill>
                      <a:srgbClr val="C810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층</a:t>
                      </a:r>
                    </a:p>
                  </a:txBody>
                  <a:tcPr>
                    <a:solidFill>
                      <a:srgbClr val="C810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거래가</a:t>
                      </a:r>
                    </a:p>
                  </a:txBody>
                  <a:tcPr>
                    <a:solidFill>
                      <a:srgbClr val="C810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2026.01.15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24평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8층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5억 9000만원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2026.01.03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24평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5층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5억 5300만원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2026.01.20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32평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12층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7억 1000만원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8" name="Picture 7" descr="price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560320"/>
            <a:ext cx="4297680" cy="2743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94360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99999"/>
                </a:solidFill>
              </a:defRPr>
            </a:pPr>
            <a:r>
              <a:t>*아실 (https://asil.kr)  *국토교통부 실거래가 공개시스템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320040"/>
            <a:ext cx="101600" cy="3657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333333"/>
                </a:solidFill>
              </a:defRPr>
            </a:pPr>
            <a:r>
              <a:t>샘플단지_9999 - 201동 3/20층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999999"/>
                </a:solidFill>
              </a:defRPr>
            </a:pPr>
            <a:r>
              <a:t>매물정보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777240"/>
            <a:ext cx="8595360" cy="127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188720"/>
            <a:ext cx="4114800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CCCCCC"/>
                </a:solidFill>
              </a:defRPr>
            </a:pPr>
            <a:r>
              <a:t>[단지 내 위치]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188720"/>
            <a:ext cx="41148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CCCCCC"/>
                </a:solidFill>
              </a:defRPr>
            </a:pPr>
            <a:r>
              <a:t>[평면도]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365760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333333"/>
                </a:solidFill>
              </a:defRPr>
            </a:pPr>
            <a:r>
              <a:t>매매가: 8.2억</a:t>
            </a:r>
          </a:p>
          <a:p>
            <a:pPr>
              <a:spcAft>
                <a:spcPts val="400"/>
              </a:spcAft>
              <a:defRPr sz="1100">
                <a:solidFill>
                  <a:srgbClr val="555555"/>
                </a:solidFill>
              </a:defRPr>
            </a:pPr>
            <a:r>
              <a:t>동/층: 201동 / 3/20층</a:t>
            </a:r>
          </a:p>
          <a:p>
            <a:pPr>
              <a:spcAft>
                <a:spcPts val="400"/>
              </a:spcAft>
              <a:defRPr sz="1100">
                <a:solidFill>
                  <a:srgbClr val="555555"/>
                </a:solidFill>
              </a:defRPr>
            </a:pPr>
            <a:r>
              <a:t>향: 남서향</a:t>
            </a:r>
          </a:p>
          <a:p>
            <a:pPr>
              <a:spcAft>
                <a:spcPts val="400"/>
              </a:spcAft>
              <a:defRPr sz="1100">
                <a:solidFill>
                  <a:srgbClr val="555555"/>
                </a:solidFill>
              </a:defRPr>
            </a:pPr>
            <a:r>
              <a:t>구조: 타워식 방3화2</a:t>
            </a:r>
          </a:p>
          <a:p>
            <a:pPr>
              <a:spcAft>
                <a:spcPts val="400"/>
              </a:spcAft>
              <a:defRPr sz="1100">
                <a:solidFill>
                  <a:srgbClr val="555555"/>
                </a:solidFill>
              </a:defRPr>
            </a:pPr>
            <a:r>
              <a:t>특이사항: 올수리, 네고 가능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